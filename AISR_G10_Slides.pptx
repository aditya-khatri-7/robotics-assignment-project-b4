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with name and SAP ID. Project P14: vision-guided sorting arm on a conveyor, built in CoppeliaSim (the assigned platform) with Python and OpenCV and cross-checked in MuJoCo.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Task: the camera must decide colour AND shape. Cubes go to the R/G/B bins, cylinders (wrong shape) go to the reject bin. Domain: quality inspection and sorting in manufacturing. Say why stopping the belt wastes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Achieved column. Five objectives. State the assumptions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Stop-and-go is accurate but slow, commercial line tracking is closed, visual servoing and Kalman tracking are known but rarely compared on moving, delayed targets. That is our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novelty points with numbers. Say the scheduling rule gave no gain: an honest negative result. Mention the 30-seed confirmation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official four topics of the Project List: Robotic Perception, D-H Transformations, Closed-Loop Control, Application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part from the vision sensor to the bin. Explain encoder fusion and the 80 ms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Arm L1 0.35 m, L2 0.30 m, rigid-body physics with torque limits. Parts: 75 percent cubes, 25 percent cylinders. CoppeliaSim scene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flowchart: predict, find the earliest feasible intercept time with inverse kinematics and minimum-jerk time, pick the shortest cycle. Parts that cannot be reached in time are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visual servo aims at the predicted contact point, not the present position. Gains from natural frequency 50 rad/s and damping 1. In CoppeliaSim the PID runs in a joint callback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and commands. Show the vision-sensor frame with colour and shape labels. Mention the physical sorting check and the unit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python demo_cs.py live. Point out: arm waits ahead of the part, descends while correcting, cubes into colour bins, cylinders into the reject bin. Then run --method m2 --speed 0.3 to show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Stop-and-go is 100 percent but slow. M3 keeps about 3 mm error. Above 0.25 m/s one arm cannot serve all parts: capacity limit,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compares methods on both engines. Ripple, ablation and p-values from the confirmation study. Same ranking on CoppeliaSim and MuJoCo.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member states their own technical module and the files they wrote. Every claim is traceable to commits and to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Findings, industry use, transfer to a real robot, future work. Say what the team learned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audience, show the GitHub link and take questions. Every member should be ready to answer about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Vision-Guided Sorting Arm on a Conveyor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Aditya Khatri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F78B4"/>
                </a:solidFill>
                <a:latin typeface="Calibri"/>
              </a:rPr>
              <a:t>Predictive visual servoing of a SCARA arm: colour and shape sorting in CoppeliaSim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A6E"/>
                </a:solidFill>
                <a:latin typeface="Calibri"/>
              </a:rPr>
              <a:t>Project P14 | Group G10 | Batch B4 | CSAI4014 Algorithms for Intelligent Systems and Robotics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37744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94560"/>
              </a:tblGrid>
              <a:tr h="54864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SAP ID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Aditya Khatri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500119453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Simran Jeet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500122195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Divya Israni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500121919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Amritanshi Singh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500119477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Anchit Saxena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500122868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cs_still_tran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634614"/>
            <a:ext cx="4937760" cy="27774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Submitted to: Course Faculty, CSAI4014, School of Computer Science, UPES, Dehradun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Aditya Khatri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200">
                <a:solidFill>
                  <a:srgbClr val="1F3A6E"/>
                </a:solidFill>
                <a:latin typeface="Calibri"/>
              </a:rPr>
              <a:t>Task: </a:t>
            </a:r>
            <a:r>
              <a:rPr sz="2200">
                <a:solidFill>
                  <a:srgbClr val="333333"/>
                </a:solidFill>
                <a:latin typeface="Calibri"/>
              </a:rPr>
              <a:t>detect parts by colour AND shape on a moving belt; cubes to R / G / B bins, cylinders (wrong shape) to a reject bin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200">
                <a:solidFill>
                  <a:srgbClr val="1F3A6E"/>
                </a:solidFill>
                <a:latin typeface="Calibri"/>
              </a:rPr>
              <a:t>Domain: </a:t>
            </a:r>
            <a:r>
              <a:rPr sz="2200">
                <a:solidFill>
                  <a:srgbClr val="333333"/>
                </a:solidFill>
                <a:latin typeface="Calibri"/>
              </a:rPr>
              <a:t>quality inspection and sorting in manufacturing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200">
                <a:solidFill>
                  <a:srgbClr val="1F3A6E"/>
                </a:solidFill>
                <a:latin typeface="Calibri"/>
              </a:rPr>
              <a:t>Hard part: </a:t>
            </a:r>
            <a:r>
              <a:rPr sz="2200">
                <a:solidFill>
                  <a:srgbClr val="333333"/>
                </a:solidFill>
                <a:latin typeface="Calibri"/>
              </a:rPr>
              <a:t>the part moves during the 80 ms camera delay and the arm motion; belt speed ripples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200">
                <a:solidFill>
                  <a:srgbClr val="1F3A6E"/>
                </a:solidFill>
                <a:latin typeface="Calibri"/>
              </a:rPr>
              <a:t>Today: </a:t>
            </a:r>
            <a:r>
              <a:rPr sz="2200">
                <a:solidFill>
                  <a:srgbClr val="333333"/>
                </a:solidFill>
                <a:latin typeface="Calibri"/>
              </a:rPr>
              <a:t>many cells stop the belt and waste throughput</a:t>
            </a:r>
          </a:p>
        </p:txBody>
      </p:sp>
      <p:pic>
        <p:nvPicPr>
          <p:cNvPr id="8" name="Picture 7" descr="fig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371" y="1280160"/>
            <a:ext cx="534125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Objectives (measurable)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Aditya Khatri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206240"/>
                <a:gridCol w="3108960"/>
                <a:gridCol w="3200400"/>
              </a:tblGrid>
              <a:tr h="713232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Classify colour + shape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&gt;= 99 % at noise &lt;= 25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100 % / 100 %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Grasp error, moving belt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&lt;= 5 mm to 0.35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2.7 to 3.4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Sorting success, robust to ripple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&gt;= 95 % at &lt;= 0.20 m/s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100.0 %; 15 % ripple 88 %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Throughput vs stop-and-go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&gt;= 2 x at 0.25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2.2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O5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Inspection: wrong accept / reject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&lt;= 0.1 %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1 of 3213 cylinders, 0 rejects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Assumptions: rendered orthographic camera, suction = attach constraint, kinematic conveyor, 3 colours, 2 shapes, simulation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Existing Solutions and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Simran Jeet Gill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749039"/>
              </a:tblGrid>
              <a:tr h="73152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Stop-and-go conveyor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accurate, simple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about half the throughput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Encoder line tracking (FANUC, ABB)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fast, mature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closed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Visual servoing theory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feedback cancels model error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rarely applied to delayed moving parts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Kalman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optimal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grasp benefit rarely quantified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3A6E"/>
                </a:solidFill>
                <a:latin typeface="Calibri"/>
              </a:rPr>
              <a:t>Gap: no open study that combines tracker + intercept planner + visual servo and compares it with baselines on two physics engines.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Simran Jeet Gill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N1 </a:t>
            </a:r>
            <a:r>
              <a:rPr sz="2000">
                <a:solidFill>
                  <a:srgbClr val="333333"/>
                </a:solidFill>
                <a:latin typeface="Calibri"/>
              </a:rPr>
              <a:t>Visual-servo descent: grasp error 4.7 to 3.3 mm, success 64 to 78 %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N2 </a:t>
            </a:r>
            <a:r>
              <a:rPr sz="2000">
                <a:solidFill>
                  <a:srgbClr val="333333"/>
                </a:solidFill>
                <a:latin typeface="Calibri"/>
              </a:rPr>
              <a:t>Kalman + encoder: success 70 to 78 % vs line fit (p &lt; 0.001)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N3 </a:t>
            </a:r>
            <a:r>
              <a:rPr sz="2000">
                <a:solidFill>
                  <a:srgbClr val="333333"/>
                </a:solidFill>
                <a:latin typeface="Calibri"/>
              </a:rPr>
              <a:t>Robust to 15 % ripple: 88 % vs 49 %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N4 </a:t>
            </a:r>
            <a:r>
              <a:rPr sz="2000">
                <a:solidFill>
                  <a:srgbClr val="333333"/>
                </a:solidFill>
                <a:latin typeface="Calibri"/>
              </a:rPr>
              <a:t>Same code on CoppeliaSim and MuJoCo, 890 + runs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N5 </a:t>
            </a:r>
            <a:r>
              <a:rPr sz="2000">
                <a:solidFill>
                  <a:srgbClr val="333333"/>
                </a:solidFill>
                <a:latin typeface="Calibri"/>
              </a:rPr>
              <a:t>Negative result: scheduling rule gives no gain</a:t>
            </a:r>
          </a:p>
        </p:txBody>
      </p:sp>
      <p:pic>
        <p:nvPicPr>
          <p:cNvPr id="8" name="Picture 7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33631"/>
            <a:ext cx="5029200" cy="1859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Syllabus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Simran Jeet Gill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315200"/>
              </a:tblGrid>
              <a:tr h="8686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AISR topic (Project List)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Where it is used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Robotic Perception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vision sensor, HSV colour, contour shape, homography, Kalman tracking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D-H Transformations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D-H table, matrices A1 A2 A3, FK / IK, Jacobian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Closed-Loop Control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joint PID + feedforward, visual-servo descent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Application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quality inspection and sorting in manufacturing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Divya Israni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pic>
        <p:nvPicPr>
          <p:cNvPr id="7" name="Picture 6" descr="fig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27" y="1188720"/>
            <a:ext cx="852706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A6E"/>
                </a:solidFill>
                <a:latin typeface="Calibri"/>
              </a:rPr>
              <a:t>20 fps vision sensor, 80 ms latency, encoder fusion, joint control inside the physics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Robot and Environment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Divya Israni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Arm: </a:t>
            </a:r>
            <a:r>
              <a:rPr sz="2000">
                <a:solidFill>
                  <a:srgbClr val="333333"/>
                </a:solidFill>
                <a:latin typeface="Calibri"/>
              </a:rPr>
              <a:t>SCARA, L1 0.35 m, L2 0.30 m, suction tool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D-H: </a:t>
            </a:r>
            <a:r>
              <a:rPr sz="2000">
                <a:solidFill>
                  <a:srgbClr val="333333"/>
                </a:solidFill>
                <a:latin typeface="Calibri"/>
              </a:rPr>
              <a:t>table + matrices, closed-form IK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Physics: </a:t>
            </a:r>
            <a:r>
              <a:rPr sz="2000">
                <a:solidFill>
                  <a:srgbClr val="333333"/>
                </a:solidFill>
                <a:latin typeface="Calibri"/>
              </a:rPr>
              <a:t>CoppeliaSim (Bullet), torque limits 45 / 18 N m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Belt: </a:t>
            </a:r>
            <a:r>
              <a:rPr sz="2000">
                <a:solidFill>
                  <a:srgbClr val="333333"/>
                </a:solidFill>
                <a:latin typeface="Calibri"/>
              </a:rPr>
              <a:t>0.05 to 0.35 m/s, 3 % ripple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Parts: </a:t>
            </a:r>
            <a:r>
              <a:rPr sz="2000">
                <a:solidFill>
                  <a:srgbClr val="333333"/>
                </a:solidFill>
                <a:latin typeface="Calibri"/>
              </a:rPr>
              <a:t>75 % cubes, 25 % cylinders</a:t>
            </a:r>
          </a:p>
        </p:txBody>
      </p:sp>
      <p:pic>
        <p:nvPicPr>
          <p:cNvPr id="8" name="Picture 7" descr="cs_still_desc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57325"/>
            <a:ext cx="6035040" cy="33947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02920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CoppeliaSim scene during the descent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Algorithm 1: Intercept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Divya Israni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pic>
        <p:nvPicPr>
          <p:cNvPr id="7" name="Picture 6" descr="fi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31" y="1097280"/>
            <a:ext cx="5579737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Predict: </a:t>
            </a:r>
            <a:r>
              <a:rPr sz="2000">
                <a:solidFill>
                  <a:srgbClr val="333333"/>
                </a:solidFill>
                <a:latin typeface="Calibri"/>
              </a:rPr>
              <a:t>p(t) = p_hat + v_hat (t - t_f), compensates 80 ms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Search: </a:t>
            </a:r>
            <a:r>
              <a:rPr sz="2000">
                <a:solidFill>
                  <a:srgbClr val="333333"/>
                </a:solidFill>
                <a:latin typeface="Calibri"/>
              </a:rPr>
              <a:t>earliest t_a with IK solution and min-jerk time T &lt;= available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Select: </a:t>
            </a:r>
            <a:r>
              <a:rPr sz="2000">
                <a:solidFill>
                  <a:srgbClr val="333333"/>
                </a:solidFill>
                <a:latin typeface="Calibri"/>
              </a:rPr>
              <a:t>shortest cycle among feasible targets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Skip: </a:t>
            </a:r>
            <a:r>
              <a:rPr sz="2000">
                <a:solidFill>
                  <a:srgbClr val="333333"/>
                </a:solidFill>
                <a:latin typeface="Calibri"/>
              </a:rPr>
              <a:t>parts that cannot be reached in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Algorithm 2 and Controller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Amritanshi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Servo: </a:t>
            </a:r>
            <a:r>
              <a:rPr sz="2000">
                <a:solidFill>
                  <a:srgbClr val="333333"/>
                </a:solidFill>
                <a:latin typeface="Calibri"/>
              </a:rPr>
              <a:t>v_cmd = Kt (p_hat(t_g) - p_tip), dq = J^-1 v_cmd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PID: </a:t>
            </a:r>
            <a:r>
              <a:rPr sz="2000">
                <a:solidFill>
                  <a:srgbClr val="333333"/>
                </a:solidFill>
                <a:latin typeface="Calibri"/>
              </a:rPr>
              <a:t>wn = 50 rad/s, zeta = 1, Ki = 0.2 Kp wn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FF: </a:t>
            </a:r>
            <a:r>
              <a:rPr sz="2000">
                <a:solidFill>
                  <a:srgbClr val="333333"/>
                </a:solidFill>
                <a:latin typeface="Calibri"/>
              </a:rPr>
              <a:t>J_n q_r'' + B_n q_r' cuts the PID tracking error by 28 %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In CoppeliaSim: </a:t>
            </a:r>
            <a:r>
              <a:rPr sz="2000">
                <a:solidFill>
                  <a:srgbClr val="333333"/>
                </a:solidFill>
                <a:latin typeface="Calibri"/>
              </a:rPr>
              <a:t>PID + FF runs in a joint-callback script</a:t>
            </a:r>
          </a:p>
        </p:txBody>
      </p:sp>
      <p:pic>
        <p:nvPicPr>
          <p:cNvPr id="8" name="Picture 7" descr="fig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99570"/>
            <a:ext cx="6309360" cy="24872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0" y="4297680"/>
            <a:ext cx="6309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Max tracking error (MuJoCo arm): PID 7.9 mrad, PID + FF 5.7 mrad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Simulation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Amritanshi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Platform: </a:t>
            </a:r>
            <a:r>
              <a:rPr sz="2000">
                <a:solidFill>
                  <a:srgbClr val="333333"/>
                </a:solidFill>
                <a:latin typeface="Calibri"/>
              </a:rPr>
              <a:t>CoppeliaSim V4.10 (assigned) + Python + OpenCV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Second engine: </a:t>
            </a:r>
            <a:r>
              <a:rPr sz="2000">
                <a:solidFill>
                  <a:srgbClr val="333333"/>
                </a:solidFill>
                <a:latin typeface="Calibri"/>
              </a:rPr>
              <a:t>same code on MuJoCo for the large statistics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Run: </a:t>
            </a:r>
            <a:r>
              <a:rPr sz="2000">
                <a:solidFill>
                  <a:srgbClr val="333333"/>
                </a:solidFill>
                <a:latin typeface="Calibri"/>
              </a:rPr>
              <a:t>python demo_cs.py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Check: </a:t>
            </a:r>
            <a:r>
              <a:rPr sz="2000">
                <a:solidFill>
                  <a:srgbClr val="333333"/>
                </a:solidFill>
                <a:latin typeface="Calibri"/>
              </a:rPr>
              <a:t>success = part physically in its bin</a:t>
            </a:r>
          </a:p>
        </p:txBody>
      </p:sp>
      <p:pic>
        <p:nvPicPr>
          <p:cNvPr id="8" name="Picture 7" descr="fig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40587"/>
            <a:ext cx="5394960" cy="28624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572000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Vision-sensor frame and detections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Amritanshi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3A6E"/>
                </a:solidFill>
                <a:latin typeface="Calibri"/>
              </a:rPr>
              <a:t>Switch to CoppeliaSim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Run: </a:t>
            </a:r>
            <a:r>
              <a:rPr sz="2000">
                <a:solidFill>
                  <a:srgbClr val="333333"/>
                </a:solidFill>
                <a:latin typeface="Calibri"/>
              </a:rPr>
              <a:t>python demo_cs.py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Show: </a:t>
            </a:r>
            <a:r>
              <a:rPr sz="2000">
                <a:solidFill>
                  <a:srgbClr val="333333"/>
                </a:solidFill>
                <a:latin typeface="Calibri"/>
              </a:rPr>
              <a:t>arm waits ahead, descends while tracking; cubes to colour bins, cylinders to reject bin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Compare: </a:t>
            </a:r>
            <a:r>
              <a:rPr sz="2000">
                <a:solidFill>
                  <a:srgbClr val="333333"/>
                </a:solidFill>
                <a:latin typeface="Calibri"/>
              </a:rPr>
              <a:t>--method m2 --speed 0.3 shows misses</a:t>
            </a:r>
          </a:p>
        </p:txBody>
      </p:sp>
      <p:pic>
        <p:nvPicPr>
          <p:cNvPr id="9" name="Picture 8" descr="cs_still_tran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8857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Results 1: Speed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Anchit Saxena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pic>
        <p:nvPicPr>
          <p:cNvPr id="7" name="Picture 6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50" y="1188720"/>
            <a:ext cx="11302618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M3: 2.7 to 3.4 mm grasp error, 2.2 x the throughput of stop-and-go at 0.25 m/s. Above 0.25 m/s one arm cannot serve every part.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Results 2: Comparison of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Anchit Saxena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560320"/>
                <a:gridCol w="2926080"/>
                <a:gridCol w="2103120"/>
              </a:tblGrid>
              <a:tr h="6400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Method (0.25 m/s)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MuJoCo success %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CoppeliaSim success %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Grasp error mm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M1 stop-and-go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M2 predictive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M3 proposed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Ripple 15 %: </a:t>
            </a:r>
            <a:r>
              <a:rPr sz="2000">
                <a:solidFill>
                  <a:srgbClr val="333333"/>
                </a:solidFill>
                <a:latin typeface="Calibri"/>
              </a:rPr>
              <a:t>M3 88 % vs M2 49 % (30 seeds: p &lt; 0.001)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Ablation: </a:t>
            </a:r>
            <a:r>
              <a:rPr sz="2000">
                <a:solidFill>
                  <a:srgbClr val="333333"/>
                </a:solidFill>
                <a:latin typeface="Calibri"/>
              </a:rPr>
              <a:t>M2 55, no servo 67, no Kalman 70, full 78 %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Both engines: </a:t>
            </a:r>
            <a:r>
              <a:rPr sz="2000">
                <a:solidFill>
                  <a:srgbClr val="333333"/>
                </a:solidFill>
                <a:latin typeface="Calibri"/>
              </a:rPr>
              <a:t>same ranking M3 &gt; M2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Team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Anchit Saxena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74980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Technical module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Aditya Khatri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SCARA kinematics, D-H, CoppeliaSim and MuJoCo cells, visual servo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Simran Jeet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Vision sensor image, HSV detector, shape classifier, homography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Divya Israni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Kalman tracker, intercept planner, ablation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Amritanshi Singh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PID + feedforward, joint callback, tuning, step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Anchit Saxena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Experiments, stop-and-go baseline, renders, live demo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Conclusion and Industry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All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Findings: </a:t>
            </a:r>
            <a:r>
              <a:rPr sz="2000">
                <a:solidFill>
                  <a:srgbClr val="333333"/>
                </a:solidFill>
                <a:latin typeface="Calibri"/>
              </a:rPr>
              <a:t>visual servo and Kalman both help; scheduling did not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Domain: </a:t>
            </a:r>
            <a:r>
              <a:rPr sz="2000">
                <a:solidFill>
                  <a:srgbClr val="333333"/>
                </a:solidFill>
                <a:latin typeface="Calibri"/>
              </a:rPr>
              <a:t>quality inspection and sorting in manufacturing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Real robot: </a:t>
            </a:r>
            <a:r>
              <a:rPr sz="2000">
                <a:solidFill>
                  <a:srgbClr val="333333"/>
                </a:solidFill>
                <a:latin typeface="Calibri"/>
              </a:rPr>
              <a:t>triggered camera, hand-eye calibration, vacuum delay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Future: </a:t>
            </a:r>
            <a:r>
              <a:rPr sz="2000">
                <a:solidFill>
                  <a:srgbClr val="333333"/>
                </a:solidFill>
                <a:latin typeface="Calibri"/>
              </a:rPr>
              <a:t>second arm, learned detector, ROS and real-arm test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78B4"/>
                </a:solidFill>
                <a:latin typeface="Calibri"/>
              </a:rPr>
              <a:t>•  </a:t>
            </a:r>
            <a:r>
              <a:rPr b="1" sz="2000">
                <a:solidFill>
                  <a:srgbClr val="1F3A6E"/>
                </a:solidFill>
                <a:latin typeface="Calibri"/>
              </a:rPr>
              <a:t>Team: </a:t>
            </a:r>
            <a:r>
              <a:rPr sz="2000">
                <a:solidFill>
                  <a:srgbClr val="333333"/>
                </a:solidFill>
                <a:latin typeface="Calibri"/>
              </a:rPr>
              <a:t>we taught each other our modules</a:t>
            </a:r>
          </a:p>
        </p:txBody>
      </p:sp>
      <p:pic>
        <p:nvPicPr>
          <p:cNvPr id="8" name="Picture 7" descr="fig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955737"/>
            <a:ext cx="4754880" cy="17578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411480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Same trial: M2 has misses above 10 mm, M3 none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3A6E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28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F78B4"/>
                </a:solidFill>
                <a:latin typeface="Calibri"/>
              </a:rPr>
              <a:t>Presenter: All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CSAI4014 AISR | Project P14, Group G10, Batch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3A6E"/>
                </a:solidFill>
                <a:latin typeface="Calibri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GitHub: https://github.com/Aditya-Khatri-7/Robotics-assignment-project-b4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E-mails (@stu.upes.ac.in): aditya.119453, simran.122195, divya.121919, amritanshi.119477, anchit.122868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Group G10 | Aditya Khatri, Simran Jeet Gill, Divya Israni, Amritanshi Singh, Anchit Saxena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